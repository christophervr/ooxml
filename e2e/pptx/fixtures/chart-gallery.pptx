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ms-office.chartex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ms-office.chartex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ms-office.chartex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ms-office.chartex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ms-office.chartex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ms-office.chartex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ms-office.chartex+xml"/>
  <Override PartName="/ppt/charts/style20.xml" ContentType="application/vnd.ms-office.chartstyle+xml"/>
  <Override PartName="/ppt/charts/colors20.xml" ContentType="application/vnd.ms-office.chartcolorstyl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9" Type="http://schemas.openxmlformats.org/officeDocument/2006/relationships/slide" Target="slides/slide4.xml"></Relationship><Relationship Id="rId10" Type="http://schemas.openxmlformats.org/officeDocument/2006/relationships/slide" Target="slides/slide5.xml"></Relationship><Relationship Id="rId11" Type="http://schemas.openxmlformats.org/officeDocument/2006/relationships/slide" Target="slides/slide6.xml"></Relationship><Relationship Id="rId12" Type="http://schemas.openxmlformats.org/officeDocument/2006/relationships/slide" Target="slides/slide7.xml"></Relationship><Relationship Id="rId13" Type="http://schemas.openxmlformats.org/officeDocument/2006/relationships/slide" Target="slides/slide8.xml"></Relationship><Relationship Id="rId14" Type="http://schemas.openxmlformats.org/officeDocument/2006/relationships/slide" Target="slides/slide9.xml"></Relationship><Relationship Id="rId15" Type="http://schemas.openxmlformats.org/officeDocument/2006/relationships/slide" Target="slides/slide10.xml"></Relationship><Relationship Id="rId16" Type="http://schemas.openxmlformats.org/officeDocument/2006/relationships/slide" Target="slides/slide11.xml"></Relationship><Relationship Id="rId17" Type="http://schemas.openxmlformats.org/officeDocument/2006/relationships/slide" Target="slides/slide12.xml"></Relationship><Relationship Id="rId18" Type="http://schemas.openxmlformats.org/officeDocument/2006/relationships/slide" Target="slides/slide13.xml"></Relationship><Relationship Id="rId19" Type="http://schemas.openxmlformats.org/officeDocument/2006/relationships/slide" Target="slides/slide14.xml"></Relationship><Relationship Id="rId20" Type="http://schemas.openxmlformats.org/officeDocument/2006/relationships/slide" Target="slides/slide15.xml"></Relationship><Relationship Id="rId21" Type="http://schemas.openxmlformats.org/officeDocument/2006/relationships/slide" Target="slides/slide16.xml"></Relationship><Relationship Id="rId22" Type="http://schemas.openxmlformats.org/officeDocument/2006/relationships/slide" Target="slides/slide17.xml"></Relationship><Relationship Id="rId23" Type="http://schemas.openxmlformats.org/officeDocument/2006/relationships/slide" Target="slides/slide18.xml"></Relationship><Relationship Id="rId24" Type="http://schemas.openxmlformats.org/officeDocument/2006/relationships/slide" Target="slides/slide19.xml"></Relationship><Relationship Id="rId25" Type="http://schemas.openxmlformats.org/officeDocument/2006/relationships/slide" Target="slides/slide20.xml"></Relationship></Relationships>
</file>

<file path=ppt/charts/_rels/chart11.xml.rels><?xml version="1.0" encoding="UTF-8" standalone="yes"?><Relationships xmlns="http://schemas.openxmlformats.org/package/2006/relationships"><Relationship Id="rId2" Type="http://schemas.microsoft.com/office/2011/relationships/chartStyle" Target="style11.xml"/><Relationship Id="rId3" Type="http://schemas.microsoft.com/office/2011/relationships/chartColorStyle" Target="colors11.xml"/></Relationships>
</file>

<file path=ppt/charts/_rels/chart12.xml.rels><?xml version="1.0" encoding="UTF-8" standalone="yes"?><Relationships xmlns="http://schemas.openxmlformats.org/package/2006/relationships"><Relationship Id="rId2" Type="http://schemas.microsoft.com/office/2011/relationships/chartStyle" Target="style12.xml"/><Relationship Id="rId3" Type="http://schemas.microsoft.com/office/2011/relationships/chartColorStyle" Target="colors12.xml"/></Relationships>
</file>

<file path=ppt/charts/_rels/chart13.xml.rels><?xml version="1.0" encoding="UTF-8" standalone="yes"?><Relationships xmlns="http://schemas.openxmlformats.org/package/2006/relationships"><Relationship Id="rId2" Type="http://schemas.microsoft.com/office/2011/relationships/chartStyle" Target="style13.xml"/><Relationship Id="rId3" Type="http://schemas.microsoft.com/office/2011/relationships/chartColorStyle" Target="colors13.xml"/></Relationships>
</file>

<file path=ppt/charts/_rels/chart14.xml.rels><?xml version="1.0" encoding="UTF-8" standalone="yes"?><Relationships xmlns="http://schemas.openxmlformats.org/package/2006/relationships"><Relationship Id="rId2" Type="http://schemas.microsoft.com/office/2011/relationships/chartStyle" Target="style14.xml"/><Relationship Id="rId3" Type="http://schemas.microsoft.com/office/2011/relationships/chartColorStyle" Target="colors14.xml"/></Relationships>
</file>

<file path=ppt/charts/_rels/chart18.xml.rels><?xml version="1.0" encoding="UTF-8" standalone="yes"?><Relationships xmlns="http://schemas.openxmlformats.org/package/2006/relationships"><Relationship Id="rId2" Type="http://schemas.microsoft.com/office/2011/relationships/chartStyle" Target="style18.xml"/><Relationship Id="rId3" Type="http://schemas.microsoft.com/office/2011/relationships/chartColorStyle" Target="colors18.xml"/></Relationships>
</file>

<file path=ppt/charts/_rels/chart19.xml.rels><?xml version="1.0" encoding="UTF-8" standalone="yes"?><Relationships xmlns="http://schemas.openxmlformats.org/package/2006/relationships"><Relationship Id="rId2" Type="http://schemas.microsoft.com/office/2011/relationships/chartStyle" Target="style19.xml"/><Relationship Id="rId3" Type="http://schemas.microsoft.com/office/2011/relationships/chartColorStyle" Target="colors19.xml"/></Relationships>
</file>

<file path=ppt/charts/_rels/chart20.xml.rels><?xml version="1.0" encoding="UTF-8" standalone="yes"?><Relationships xmlns="http://schemas.openxmlformats.org/package/2006/relationships"><Relationship Id="rId2" Type="http://schemas.microsoft.com/office/2011/relationships/chartStyle" Target="style20.xml"/><Relationship Id="rId3" Type="http://schemas.microsoft.com/office/2011/relationships/chartColorStyle" Target="colors2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Clustered Bar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Line (with trendline)</a:t>
            </a:r>
          </a:p>
        </c:rich>
      </c:tx>
      <c:overlay val="0"/>
    </c:title>
    <c:autoTitleDeleted val="0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solidFill>
                <a:srgbClr val="4472C4"/>
              </a:solidFill>
            </a:ln>
          </c:spPr>
          <c:trendline>
            <c:spPr>
              <a:ln>
                <a:solidFill>
                  <a:srgbClr val="FF0000"/>
                </a:solidFill>
              </a:ln>
            </c:spPr>
            <c:trendlineType val="linear"/>
          </c:trendline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Area</a:t>
            </a:r>
          </a:p>
        </c:rich>
      </c:tx>
      <c:overlay val="0"/>
    </c:title>
    <c:autoTitleDeleted val="0"/>
    <c:plotArea>
      <c:layout/>
      <c:area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axId val="111111111"/>
        <c:axId val="222222222"/>
      </c:area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Pie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</c:dPt>
          <c:dPt>
            <c:idx val="1"/>
            <c:bubble3D val="0"/>
            <c:spPr>
              <a:solidFill>
                <a:srgbClr val="ED7D31"/>
              </a:solidFill>
            </c:spPr>
          </c:dPt>
          <c:dPt>
            <c:idx val="2"/>
            <c:bubble3D val="0"/>
            <c:spPr>
              <a:solidFill>
                <a:srgbClr val="70AD47"/>
              </a:solidFill>
            </c:spPr>
          </c:dPt>
          <c:dPt>
            <c:idx val="3"/>
            <c:bubble3D val="0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</c:pieChart>
    </c:plotArea>
    <c:legend>
      <c:legendPos val="b"/>
      <c:overlay val="0"/>
    </c:legend>
    <c:plotVisOnly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Doughnut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</c:dPt>
          <c:dPt>
            <c:idx val="1"/>
            <c:bubble3D val="0"/>
            <c:spPr>
              <a:solidFill>
                <a:srgbClr val="ED7D31"/>
              </a:solidFill>
            </c:spPr>
          </c:dPt>
          <c:dPt>
            <c:idx val="2"/>
            <c:bubble3D val="0"/>
            <c:spPr>
              <a:solidFill>
                <a:srgbClr val="70AD47"/>
              </a:solidFill>
            </c:spPr>
          </c:dPt>
          <c:dPt>
            <c:idx val="3"/>
            <c:bubble3D val="0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holeSize val="50"/>
      </c:doughnutChart>
    </c:plotArea>
    <c:legend>
      <c:legendPos val="b"/>
      <c:overlay val="0"/>
    </c:legend>
    <c:plotVisOnly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Radar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axId val="111111111"/>
        <c:axId val="222222222"/>
      </c:rad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Scatter</a:t>
            </a:r>
          </a:p>
        </c:rich>
      </c:tx>
      <c:overlay val="0"/>
    </c:title>
    <c:autoTitleDeleted val="0"/>
    <c:plotArea>
      <c:layout/>
      <c:scatterChart>
        <c:scatterStyle val="marker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7"/>
            <c:spPr>
              <a:solidFill>
                <a:srgbClr val="4472C4"/>
              </a:solidFill>
            </c:spPr>
          </c:marker>
          <c:x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y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7"/>
            <c:spPr>
              <a:solidFill>
                <a:srgbClr val="ED7D31"/>
              </a:solidFill>
            </c:spPr>
          </c:marker>
          <c:x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yVal>
        </c:ser>
        <c:axId val="111111111"/>
        <c:axId val="222222222"/>
      </c:scatterChart>
      <c:valAx>
        <c:axId val="111111111"/>
        <c:scaling>
          <c:orientation val="minMax"/>
        </c:scaling>
        <c:delete val="0"/>
        <c:axPos val="b"/>
        <c:crossAx val="222222222"/>
      </c:val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Bubble</a:t>
            </a:r>
          </a:p>
        </c:rich>
      </c:tx>
      <c:overlay val="0"/>
    </c:title>
    <c:autoTitleDeleted val="0"/>
    <c:plotArea>
      <c:layout/>
      <c:bubbleChart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x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yVal>
          <c:bubbleSize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8</c:v>
                </c:pt>
                <c:pt idx="2">
                  <c:v>7</c:v>
                </c:pt>
                <c:pt idx="3">
                  <c:v>9</c:v>
                </c:pt>
              </c:numCache>
            </c:numRef>
          </c:bubbleSize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x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yVal>
          <c:bubbleSize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7</c:v>
                </c:pt>
              </c:numCache>
            </c:numRef>
          </c:bubbleSize>
        </c:ser>
        <c:axId val="111111111"/>
        <c:axId val="222222222"/>
      </c:bubbleChart>
      <c:valAx>
        <c:axId val="111111111"/>
        <c:scaling>
          <c:orientation val="minMax"/>
        </c:scaling>
        <c:delete val="0"/>
        <c:axPos val="b"/>
        <c:crossAx val="222222222"/>
      </c:val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Stacked Bar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33</c:v>
                </c:pt>
              </c:numCache>
            </c:numRef>
          </c:val>
        </c:ser>
        <c:gapWidth val="15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Percent Stacked Bar</a:t>
            </a:r>
          </a:p>
        </c:rich>
      </c:tx>
      <c:overlay val="0"/>
    </c:title>
    <c:autoTitleDeleted val="0"/>
    <c:plotArea>
      <c:layout/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33</c:v>
                </c:pt>
              </c:numCache>
            </c:numRef>
          </c:val>
        </c:ser>
        <c:gapWidth val="15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11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bodyPr/>
          <a:p>
            <a:r>
              <a:t>Funnel</a:t>
            </a:r>
          </a:p>
        </cx:rich>
      </cx:tx>
    </cx:title>
    <cx:plotArea>
      <cx:plotAreaRegion>
        <cx:series layoutId="funnel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</cx:plotAreaRegion>
    </cx:plotArea>
    <cx:legend pos="b"/>
  </cx:chart>
</cx:chartSpace>
</file>

<file path=ppt/charts/chart12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  <cx:data id="1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30</cx:pt>
          <cx:pt idx="1">41</cx:pt>
          <cx:pt idx="2">38</cx:pt>
          <cx:pt idx="3">52</cx:pt>
        </cx:lvl>
      </cx:numDim>
    </cx:data>
  </cx:chartData>
  <cx:chart>
    <cx:title>
      <cx:tx>
        <cx:rich>
          <a:bodyPr/>
          <a:p>
            <a:r>
              <a:t>Sunburst</a:t>
            </a:r>
          </a:p>
        </cx:rich>
      </cx:tx>
    </cx:title>
    <cx:plotArea>
      <cx:plotAreaRegion>
        <cx:series layoutId="sunburst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  <cx:series layoutId="sunburst" uniqueId="{00000001-0000-0000-0000-000000000000}">
          <cx:tx>
            <cx:txData>
              <cx:f>Sheet1!$B$1</cx:f>
              <cx:v>Cost</cx:v>
            </cx:txData>
          </cx:tx>
          <cx:spPr>
            <a:solidFill>
              <a:srgbClr val="ED7D31"/>
            </a:solidFill>
          </cx:spPr>
          <cx:dataId val="1"/>
        </cx:series>
      </cx:plotAreaRegion>
    </cx:plotArea>
    <cx:legend pos="b"/>
  </cx:chart>
</cx:chartSpace>
</file>

<file path=ppt/charts/chart13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bodyPr/>
          <a:p>
            <a:r>
              <a:t>Histogram</a:t>
            </a:r>
          </a:p>
        </cx:rich>
      </cx:tx>
    </cx:title>
    <cx:plotArea>
      <cx:plotAreaRegion>
        <cx:series layoutId="clusteredColumn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  <cx:layoutPr>
            <cx:binning intervalClosed="r">
              <cx:binCount val="4"/>
            </cx:binning>
          </cx:layoutPr>
        </cx:series>
      </cx:plotAreaRegion>
    </cx:plotArea>
    <cx:legend pos="b"/>
  </cx:chart>
</cx:chartSpace>
</file>

<file path=ppt/charts/chart14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Group A</cx:pt>
          <cx:pt idx="1">Group A</cx:pt>
          <cx:pt idx="2">Group B</cx:pt>
          <cx:pt idx="3">Group B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  <cx:data id="1">
      <cx:strDim type="cat">
        <cx:f>Sheet1!$A$2:$A$5</cx:f>
        <cx:lvl ptCount="4">
          <cx:pt idx="0">Group A</cx:pt>
          <cx:pt idx="1">Group A</cx:pt>
          <cx:pt idx="2">Group B</cx:pt>
          <cx:pt idx="3">Group B</cx:pt>
        </cx:lvl>
      </cx:strDim>
      <cx:numDim type="val">
        <cx:f>Sheet1!$B$2:$B$5</cx:f>
        <cx:lvl ptCount="4">
          <cx:pt idx="0">30</cx:pt>
          <cx:pt idx="1">41</cx:pt>
          <cx:pt idx="2">38</cx:pt>
          <cx:pt idx="3">52</cx:pt>
        </cx:lvl>
      </cx:numDim>
    </cx:data>
    <cx:data id="2">
      <cx:strDim type="cat">
        <cx:f>Sheet1!$A$2:$A$5</cx:f>
        <cx:lvl ptCount="4">
          <cx:pt idx="0">Group A</cx:pt>
          <cx:pt idx="1">Group A</cx:pt>
          <cx:pt idx="2">Group B</cx:pt>
          <cx:pt idx="3">Group B</cx:pt>
        </cx:lvl>
      </cx:strDim>
      <cx:numDim type="val">
        <cx:f>Sheet1!$B$2:$B$5</cx:f>
        <cx:lvl ptCount="4">
          <cx:pt idx="0">18</cx:pt>
          <cx:pt idx="1">24</cx:pt>
          <cx:pt idx="2">29</cx:pt>
          <cx:pt idx="3">33</cx:pt>
        </cx:lvl>
      </cx:numDim>
    </cx:data>
  </cx:chartData>
  <cx:chart>
    <cx:title>
      <cx:tx>
        <cx:rich>
          <a:bodyPr/>
          <a:p>
            <a:r>
              <a:t>Box-Whisker</a:t>
            </a:r>
          </a:p>
        </cx:rich>
      </cx:tx>
    </cx:title>
    <cx:plotArea>
      <cx:plotAreaRegion>
        <cx:series layoutId="boxWhisker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  <cx:series layoutId="boxWhisker" uniqueId="{00000001-0000-0000-0000-000000000000}">
          <cx:tx>
            <cx:txData>
              <cx:f>Sheet1!$B$1</cx:f>
              <cx:v>Cost</cx:v>
            </cx:txData>
          </cx:tx>
          <cx:spPr>
            <a:solidFill>
              <a:srgbClr val="ED7D31"/>
            </a:solidFill>
          </cx:spPr>
          <cx:dataId val="1"/>
        </cx:series>
        <cx:series layoutId="boxWhisker" uniqueId="{00000002-0000-0000-0000-000000000000}">
          <cx:tx>
            <cx:txData>
              <cx:f>Sheet1!$B$1</cx:f>
              <cx:v>Profit</cx:v>
            </cx:txData>
          </cx:tx>
          <cx:spPr>
            <a:solidFill>
              <a:srgbClr val="70AD47"/>
            </a:solidFill>
          </cx:spPr>
          <cx:dataId val="2"/>
        </cx:series>
      </cx:plotAreaRegion>
    </cx:plotArea>
    <cx:legend pos="b"/>
  </cx:chart>
</cx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Combo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lineChart>
        <c:grouping val="standard"/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ln>
              <a:solidFill>
                <a:srgbClr val="70AD47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33</c:v>
                </c:pt>
              </c:numCache>
            </c:numRef>
          </c:val>
        </c:ser>
        <c:marker val="1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Stock</a:t>
            </a:r>
          </a:p>
        </c:rich>
      </c:tx>
      <c:overlay val="0"/>
    </c:title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55</c:v>
                </c:pt>
                <c:pt idx="3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65</c:v>
                </c:pt>
                <c:pt idx="2">
                  <c:v>62</c:v>
                </c:pt>
                <c:pt idx="3">
                  <c:v>74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52</c:v>
                </c:pt>
                <c:pt idx="2">
                  <c:v>51</c:v>
                </c:pt>
                <c:pt idx="3">
                  <c:v>61</c:v>
                </c:pt>
              </c:numCache>
            </c:numRef>
          </c:val>
        </c:ser>
        <c:ser>
          <c:idx val="3"/>
          <c:order val="3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</c:v>
                </c:pt>
                <c:pt idx="1">
                  <c:v>61</c:v>
                </c:pt>
                <c:pt idx="2">
                  <c:v>53</c:v>
                </c:pt>
                <c:pt idx="3">
                  <c:v>71</c:v>
                </c:pt>
              </c:numCache>
            </c:numRef>
          </c:val>
        </c:ser>
        <c:hiLowLines/>
        <c:upDownBars>
          <c:gapWidth val="150"/>
        </c:upDownBars>
        <c:axId val="111111111"/>
        <c:axId val="222222222"/>
      </c:stock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Surface</a:t>
            </a:r>
          </a:p>
        </c:rich>
      </c:tx>
      <c:overlay val="0"/>
    </c:title>
    <c:autoTitleDeleted val="0"/>
    <c:plotArea>
      <c:layout/>
      <c:surfaceChart>
        <c:wireframe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33</c:v>
                </c:pt>
              </c:numCache>
            </c:numRef>
          </c:val>
        </c:ser>
        <c:axId val="111111111"/>
        <c:axId val="222222222"/>
        <c:axId val="333333333"/>
      </c:surface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  <c:serAx>
        <c:axId val="333333333"/>
        <c:scaling>
          <c:orientation val="minMax"/>
        </c:scaling>
        <c:delete val="0"/>
        <c:axPos val="b"/>
        <c:crossAx val="222222222"/>
      </c:serAx>
    </c:plotArea>
    <c:legend>
      <c:legendPos val="b"/>
      <c:overlay val="0"/>
    </c:legend>
    <c:plotVisOnly val="1"/>
  </c:chart>
</c:chartSpace>
</file>

<file path=ppt/charts/chart18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bodyPr/>
          <a:p>
            <a:r>
              <a:t>Waterfall</a:t>
            </a:r>
          </a:p>
        </cx:rich>
      </cx:tx>
    </cx:title>
    <cx:plotArea>
      <cx:plotAreaRegion>
        <cx:series layoutId="waterfall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</cx:plotAreaRegion>
    </cx:plotArea>
    <cx:legend pos="b"/>
  </cx:chart>
</cx:chartSpace>
</file>

<file path=ppt/charts/chart19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bodyPr/>
          <a:p>
            <a:r>
              <a:t>Treemap</a:t>
            </a:r>
          </a:p>
        </cx:rich>
      </cx:tx>
    </cx:title>
    <cx:plotArea>
      <cx:plotAreaRegion>
        <cx:series layoutId="treemap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</cx:plotAreaRegion>
    </cx:plotArea>
    <cx:legend pos="b"/>
  </cx:chart>
</cx:chartSpace>
</file>

<file path=ppt/charts/chart20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United States</cx:pt>
          <cx:pt idx="1">Germany</cx:pt>
          <cx:pt idx="2">China</cx:pt>
          <cx:pt idx="3">Brazil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bodyPr/>
          <a:p>
            <a:r>
              <a:t>Region Map</a:t>
            </a:r>
          </a:p>
        </cx:rich>
      </cx:tx>
    </cx:title>
    <cx:plotArea>
      <cx:plotAreaRegion>
        <cx:series layoutId="regionMap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</cx:plotAreaRegion>
    </cx:plotArea>
    <cx:legend pos="b"/>
  </cx:chart>
</cx:chartSpac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2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3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4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5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6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7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8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9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0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1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2.xml"/></Relationships>
</file>

<file path=ppt/slides/_rels/slide13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3.xml"/></Relationships>
</file>

<file path=ppt/slides/_rels/slide14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4.xml"/></Relationships>
</file>

<file path=ppt/slides/_rels/slide15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5.xml"/></Relationships>
</file>

<file path=ppt/slides/_rels/slide16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6.xml"/></Relationships>
</file>

<file path=ppt/slides/_rels/slide17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7.xml"/></Relationships>
</file>

<file path=ppt/slides/_rels/slide18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8.xml"/></Relationships>
</file>

<file path=ppt/slides/_rels/slide19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9.xml"/></Relationships>
</file>

<file path=ppt/slides/_rels/slide20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Clustered Bar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Line (with trendline)</a:t>
            </a:r>
          </a:p>
        </p:txBody>
      </p:sp>
      <p:graphicFrame>
        <p:nvGraphicFramePr>
          <p:cNvPr id="102" name="Chart 2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Area</a:t>
            </a:r>
          </a:p>
        </p:txBody>
      </p:sp>
      <p:graphicFrame>
        <p:nvGraphicFramePr>
          <p:cNvPr id="103" name="Chart 3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Pie</a:t>
            </a:r>
          </a:p>
        </p:txBody>
      </p:sp>
      <p:graphicFrame>
        <p:nvGraphicFramePr>
          <p:cNvPr id="104" name="Chart 4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Doughnut</a:t>
            </a:r>
          </a:p>
        </p:txBody>
      </p:sp>
      <p:graphicFrame>
        <p:nvGraphicFramePr>
          <p:cNvPr id="105" name="Chart 5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Radar</a:t>
            </a:r>
          </a:p>
        </p:txBody>
      </p:sp>
      <p:graphicFrame>
        <p:nvGraphicFramePr>
          <p:cNvPr id="106" name="Chart 6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Scatter</a:t>
            </a:r>
          </a:p>
        </p:txBody>
      </p:sp>
      <p:graphicFrame>
        <p:nvGraphicFramePr>
          <p:cNvPr id="107" name="Chart 7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Bubble</a:t>
            </a:r>
          </a:p>
        </p:txBody>
      </p:sp>
      <p:graphicFrame>
        <p:nvGraphicFramePr>
          <p:cNvPr id="108" name="Chart 8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Stacked Bar</a:t>
            </a:r>
          </a:p>
        </p:txBody>
      </p:sp>
      <p:graphicFrame>
        <p:nvGraphicFramePr>
          <p:cNvPr id="109" name="Chart 9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Percent Stacked Bar</a:t>
            </a:r>
          </a:p>
        </p:txBody>
      </p:sp>
      <p:graphicFrame>
        <p:nvGraphicFramePr>
          <p:cNvPr id="110" name="Chart 10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Funnel</a:t>
            </a:r>
          </a:p>
        </p:txBody>
      </p:sp>
      <p:graphicFrame>
        <p:nvGraphicFramePr>
          <p:cNvPr id="111" name="Chart 11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Sunburst</a:t>
            </a:r>
          </a:p>
        </p:txBody>
      </p:sp>
      <p:graphicFrame>
        <p:nvGraphicFramePr>
          <p:cNvPr id="112" name="Chart 12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Histogram</a:t>
            </a:r>
          </a:p>
        </p:txBody>
      </p:sp>
      <p:graphicFrame>
        <p:nvGraphicFramePr>
          <p:cNvPr id="113" name="Chart 13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Box-Whisker</a:t>
            </a:r>
          </a:p>
        </p:txBody>
      </p:sp>
      <p:graphicFrame>
        <p:nvGraphicFramePr>
          <p:cNvPr id="114" name="Chart 14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Combo</a:t>
            </a:r>
          </a:p>
        </p:txBody>
      </p:sp>
      <p:graphicFrame>
        <p:nvGraphicFramePr>
          <p:cNvPr id="115" name="Chart 15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Stock</a:t>
            </a:r>
          </a:p>
        </p:txBody>
      </p:sp>
      <p:graphicFrame>
        <p:nvGraphicFramePr>
          <p:cNvPr id="116" name="Chart 16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Surface</a:t>
            </a:r>
          </a:p>
        </p:txBody>
      </p:sp>
      <p:graphicFrame>
        <p:nvGraphicFramePr>
          <p:cNvPr id="117" name="Chart 17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Waterfall</a:t>
            </a:r>
          </a:p>
        </p:txBody>
      </p:sp>
      <p:graphicFrame>
        <p:nvGraphicFramePr>
          <p:cNvPr id="118" name="Chart 18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Treemap</a:t>
            </a:r>
          </a:p>
        </p:txBody>
      </p:sp>
      <p:graphicFrame>
        <p:nvGraphicFramePr>
          <p:cNvPr id="119" name="Chart 19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Region Map</a:t>
            </a:r>
          </a:p>
        </p:txBody>
      </p:sp>
      <p:graphicFrame>
        <p:nvGraphicFramePr>
          <p:cNvPr id="120" name="Chart 20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29</Words>
  <Application>pptx-viewer-sdk</Application>
  <Paragraphs>20</Paragraphs>
  <Slides>20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Gallery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