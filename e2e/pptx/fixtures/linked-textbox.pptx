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inA-head"/>
          <p:cNvSpPr txBox="1"/>
          <p:nvPr/>
        </p:nvSpPr>
        <p:spPr>
          <a:xfrm>
            <a:off x="400000" y="300000"/>
            <a:ext cx="2000000" cy="600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noAutofit/>
            <a:linkedTxbx id="1" seq="0"/>
          </a:bodyPr>
          <a:lstStyle/>
          <a:p>
            <a:r>
              <a:rPr lang="en-US" sz="1800" dirty="0">
                <a:latin typeface="Arial"/>
                <a:cs typeface="Arial"/>
              </a:rPr>
              <a:t>Alpha one two three four five six seven eight</a:t>
            </a:r>
          </a:p>
        </p:txBody>
      </p:sp>
      <p:sp>
        <p:nvSpPr>
          <p:cNvPr id="11" name="ChainA-tail"/>
          <p:cNvSpPr txBox="1"/>
          <p:nvPr/>
        </p:nvSpPr>
        <p:spPr>
          <a:xfrm>
            <a:off x="2600000" y="300000"/>
            <a:ext cx="2000000" cy="600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noAutofit/>
            <a:linkedTxbx id="1" seq="1"/>
          </a:bodyPr>
          <a:lstStyle/>
          <a:p>
            <a:endParaRPr lang="en-US" sz="1800"/>
          </a:p>
        </p:txBody>
      </p:sp>
      <p:grpSp>
        <p:nvGrpSpPr>
          <p:cNvPr id="20" name="GroupB"/>
          <p:cNvGrpSpPr/>
          <p:nvPr/>
        </p:nvGrpSpPr>
        <p:grpSpPr>
          <a:xfrm>
            <a:off x="400000" y="1200000"/>
            <a:ext cx="4200000" cy="600000"/>
            <a:chOff x="400000" y="1200000"/>
            <a:chExt cx="4200000" cy="600000"/>
          </a:xfrm>
        </p:grpSpPr>
        <p:sp>
          <p:nvSpPr>
            <p:cNvPr id="21" name="ChainB-head"/>
            <p:cNvSpPr txBox="1"/>
            <p:nvPr/>
          </p:nvSpPr>
          <p:spPr>
            <a:xfrm>
              <a:off x="400000" y="1200000"/>
              <a:ext cx="2000000" cy="60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wrap="square">
              <a:noAutofit/>
              <a:linkedTxbx id="2" seq="0"/>
            </a:bodyPr>
            <a:lstStyle/>
            <a:p>
              <a:r>
                <a:rPr lang="en-US" sz="1800" dirty="0">
                  <a:latin typeface="Arial"/>
                  <a:cs typeface="Arial"/>
                </a:rPr>
                <a:t>Bravo one two three four five six seven eight</a:t>
              </a:r>
            </a:p>
          </p:txBody>
        </p:sp>
        <p:sp>
          <p:nvSpPr>
            <p:cNvPr id="22" name="ChainB-tail"/>
            <p:cNvSpPr txBox="1"/>
            <p:nvPr/>
          </p:nvSpPr>
          <p:spPr>
            <a:xfrm>
              <a:off x="2600000" y="1200000"/>
              <a:ext cx="2000000" cy="60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wrap="square">
              <a:noAutofit/>
              <a:linkedTxbx id="2" seq="1"/>
            </a:bodyPr>
            <a:lstStyle/>
            <a:p>
              <a:endParaRPr lang="en-US" sz="1800"/>
            </a:p>
          </p:txBody>
        </p:sp>
      </p:grpSp>
      <p:grpSp>
        <p:nvGrpSpPr>
          <p:cNvPr id="30" name="GroupC-outer"/>
          <p:cNvGrpSpPr/>
          <p:nvPr/>
        </p:nvGrpSpPr>
        <p:grpSpPr>
          <a:xfrm>
            <a:off x="400000" y="2100000"/>
            <a:ext cx="4200000" cy="600000"/>
            <a:chOff x="400000" y="2100000"/>
            <a:chExt cx="4200000" cy="600000"/>
          </a:xfrm>
        </p:grpSpPr>
        <p:grpSp>
          <p:nvGrpSpPr>
            <p:cNvPr id="31" name="GroupC-inner"/>
            <p:cNvGrpSpPr/>
            <p:nvPr/>
          </p:nvGrpSpPr>
          <p:grpSpPr>
            <a:xfrm>
              <a:off x="400000" y="2100000"/>
              <a:ext cx="4200000" cy="600000"/>
              <a:chOff x="400000" y="2100000"/>
              <a:chExt cx="4200000" cy="600000"/>
            </a:xfrm>
          </p:grpSpPr>
          <p:sp>
            <p:nvSpPr>
              <p:cNvPr id="32" name="ChainC-head"/>
              <p:cNvSpPr txBox="1"/>
              <p:nvPr/>
            </p:nvSpPr>
            <p:spPr>
              <a:xfrm>
                <a:off x="400000" y="2100000"/>
                <a:ext cx="2000000" cy="600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noAutofit/>
                <a:linkedTxbx id="3" seq="0"/>
              </a:bodyPr>
              <a:lstStyle/>
              <a:p>
                <a:r>
                  <a:rPr lang="en-US" sz="1800" dirty="0">
                    <a:latin typeface="Arial"/>
                    <a:cs typeface="Arial"/>
                  </a:rPr>
                  <a:t>Charlie one two three four five six seven eight</a:t>
                </a:r>
              </a:p>
            </p:txBody>
          </p:sp>
          <p:sp>
            <p:nvSpPr>
              <p:cNvPr id="33" name="ChainC-tail"/>
              <p:cNvSpPr txBox="1"/>
              <p:nvPr/>
            </p:nvSpPr>
            <p:spPr>
              <a:xfrm>
                <a:off x="2600000" y="2100000"/>
                <a:ext cx="2000000" cy="600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noAutofit/>
                <a:linkedTxbx id="3" seq="1"/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0" name="GroupD"/>
          <p:cNvGrpSpPr/>
          <p:nvPr/>
        </p:nvGrpSpPr>
        <p:grpSpPr>
          <a:xfrm>
            <a:off x="400000" y="3000000"/>
            <a:ext cx="1000000" cy="300000"/>
            <a:chOff x="400000" y="3000000"/>
            <a:chExt cx="2000000" cy="600000"/>
          </a:xfrm>
        </p:grpSpPr>
        <p:sp>
          <p:nvSpPr>
            <p:cNvPr id="41" name="ChainD-head"/>
            <p:cNvSpPr txBox="1"/>
            <p:nvPr/>
          </p:nvSpPr>
          <p:spPr>
            <a:xfrm>
              <a:off x="400000" y="3000000"/>
              <a:ext cx="2000000" cy="60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wrap="square">
              <a:noAutofit/>
              <a:linkedTxbx id="4" seq="0"/>
            </a:bodyPr>
            <a:lstStyle/>
            <a:p>
              <a:r>
                <a:rPr lang="en-US" sz="1800" dirty="0">
                  <a:latin typeface="Arial"/>
                  <a:cs typeface="Arial"/>
                </a:rPr>
                <a:t>Delta one two three four five six seven eight</a:t>
              </a:r>
            </a:p>
          </p:txBody>
        </p:sp>
      </p:grpSp>
      <p:sp>
        <p:nvSpPr>
          <p:cNvPr id="42" name="ChainD-tail"/>
          <p:cNvSpPr txBox="1"/>
          <p:nvPr/>
        </p:nvSpPr>
        <p:spPr>
          <a:xfrm>
            <a:off x="2600000" y="3000000"/>
            <a:ext cx="2000000" cy="600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noAutofit/>
            <a:linkedTxbx id="4" seq="1"/>
          </a:bodyPr>
          <a:lstStyle/>
          <a:p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Text Box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